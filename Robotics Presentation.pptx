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26" y="10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270F3-71DA-49A6-9CCE-2D17DC302F10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6A277-DE39-49E9-8012-4832E427E4E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49028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6A277-DE39-49E9-8012-4832E427E4EB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14670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9BE3-E681-402F-9AFD-719C5260AB58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39E5-EF03-4A90-8F18-681CB08C46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6601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9BE3-E681-402F-9AFD-719C5260AB58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39E5-EF03-4A90-8F18-681CB08C46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75807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9BE3-E681-402F-9AFD-719C5260AB58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39E5-EF03-4A90-8F18-681CB08C46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01199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9BE3-E681-402F-9AFD-719C5260AB58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39E5-EF03-4A90-8F18-681CB08C46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133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9BE3-E681-402F-9AFD-719C5260AB58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39E5-EF03-4A90-8F18-681CB08C46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2986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9BE3-E681-402F-9AFD-719C5260AB58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39E5-EF03-4A90-8F18-681CB08C46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59929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9BE3-E681-402F-9AFD-719C5260AB58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39E5-EF03-4A90-8F18-681CB08C46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32381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9BE3-E681-402F-9AFD-719C5260AB58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39E5-EF03-4A90-8F18-681CB08C46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12616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9BE3-E681-402F-9AFD-719C5260AB58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39E5-EF03-4A90-8F18-681CB08C46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35512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9BE3-E681-402F-9AFD-719C5260AB58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39E5-EF03-4A90-8F18-681CB08C46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9929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9BE3-E681-402F-9AFD-719C5260AB58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39E5-EF03-4A90-8F18-681CB08C46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66375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9BE3-E681-402F-9AFD-719C5260AB58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39E5-EF03-4A90-8F18-681CB08C4627}" type="slidenum">
              <a:rPr lang="tr-TR" smtClean="0"/>
              <a:t>‹#›</a:t>
            </a:fld>
            <a:endParaRPr lang="tr-TR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5765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9BE3-E681-402F-9AFD-719C5260AB58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39E5-EF03-4A90-8F18-681CB08C46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401162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9BE3-E681-402F-9AFD-719C5260AB58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39E5-EF03-4A90-8F18-681CB08C46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534567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9BE3-E681-402F-9AFD-719C5260AB58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39E5-EF03-4A90-8F18-681CB08C46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59363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9BE3-E681-402F-9AFD-719C5260AB58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39E5-EF03-4A90-8F18-681CB08C46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77956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9BE3-E681-402F-9AFD-719C5260AB58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39E5-EF03-4A90-8F18-681CB08C46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4465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9DE9BE3-E681-402F-9AFD-719C5260AB58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71539E5-EF03-4A90-8F18-681CB08C462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127116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842FB-8E8D-8BB2-E560-7B91D4CEE6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CE801- Intelligent Systems and Robotics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91BCD3-FFBF-8E83-FE23-116FB01348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/>
              <a:t>Muhammed Baris Govercin</a:t>
            </a:r>
          </a:p>
          <a:p>
            <a:r>
              <a:rPr lang="en-GB" noProof="0" dirty="0"/>
              <a:t>2501385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119065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1AEB9-5EE4-9DAD-8EAC-FD0E5814C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PID Controller (Right Edge Following)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C7A5A-384B-0EE1-E599-C81192EEE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noProof="0" dirty="0"/>
              <a:t>Sensors Used</a:t>
            </a:r>
          </a:p>
          <a:p>
            <a:r>
              <a:rPr lang="en-GB" noProof="0" dirty="0"/>
              <a:t>Right LiDAR =&gt; [21:80]</a:t>
            </a:r>
          </a:p>
          <a:p>
            <a:r>
              <a:rPr lang="en-GB" noProof="0" dirty="0"/>
              <a:t>Front LiDAR =&gt; [110:130] for safety stop</a:t>
            </a:r>
          </a:p>
          <a:p>
            <a:r>
              <a:rPr lang="en-GB" b="1" noProof="0" dirty="0"/>
              <a:t>Why These Sensors?</a:t>
            </a:r>
          </a:p>
          <a:p>
            <a:r>
              <a:rPr lang="en-GB" noProof="0" dirty="0"/>
              <a:t>Right sector gives stable wall-distance measurement</a:t>
            </a:r>
          </a:p>
          <a:p>
            <a:r>
              <a:rPr lang="en-GB" noProof="0" dirty="0"/>
              <a:t>Front sector prevents collision during PID control</a:t>
            </a:r>
          </a:p>
          <a:p>
            <a:r>
              <a:rPr lang="en-GB" b="1" noProof="0" dirty="0"/>
              <a:t>Tuning Process (</a:t>
            </a:r>
            <a:r>
              <a:rPr lang="en-GB" b="1" noProof="0" dirty="0" err="1"/>
              <a:t>kp</a:t>
            </a:r>
            <a:r>
              <a:rPr lang="en-GB" b="1" noProof="0" dirty="0"/>
              <a:t>, ki, </a:t>
            </a:r>
            <a:r>
              <a:rPr lang="en-GB" b="1" noProof="0" dirty="0" err="1"/>
              <a:t>kd</a:t>
            </a:r>
            <a:r>
              <a:rPr lang="en-GB" b="1" noProof="0" dirty="0"/>
              <a:t>)</a:t>
            </a:r>
          </a:p>
          <a:p>
            <a:r>
              <a:rPr lang="en-GB" b="1" noProof="0" dirty="0"/>
              <a:t>Start with </a:t>
            </a:r>
            <a:r>
              <a:rPr lang="en-GB" b="1" noProof="0" dirty="0" err="1"/>
              <a:t>kp</a:t>
            </a:r>
            <a:r>
              <a:rPr lang="en-GB" b="1" noProof="0" dirty="0"/>
              <a:t> only</a:t>
            </a:r>
            <a:r>
              <a:rPr lang="en-GB" noProof="0" dirty="0"/>
              <a:t> → increase until fast but slightly oscillatory</a:t>
            </a:r>
          </a:p>
          <a:p>
            <a:r>
              <a:rPr lang="en-GB" b="1" noProof="0" dirty="0"/>
              <a:t>Added </a:t>
            </a:r>
            <a:r>
              <a:rPr lang="en-GB" b="1" noProof="0" dirty="0" err="1"/>
              <a:t>kd</a:t>
            </a:r>
            <a:r>
              <a:rPr lang="en-GB" noProof="0" dirty="0"/>
              <a:t> → reduces wobble, smooths reaction</a:t>
            </a:r>
          </a:p>
          <a:p>
            <a:r>
              <a:rPr lang="en-GB" b="1" noProof="0" dirty="0"/>
              <a:t>Added very small ki</a:t>
            </a:r>
            <a:r>
              <a:rPr lang="en-GB" noProof="0" dirty="0"/>
              <a:t> → removes constant bias if robot drifts</a:t>
            </a:r>
          </a:p>
          <a:p>
            <a:r>
              <a:rPr lang="en-GB" noProof="0" dirty="0"/>
              <a:t>Final values:</a:t>
            </a:r>
          </a:p>
          <a:p>
            <a:pPr lvl="1"/>
            <a:r>
              <a:rPr lang="en-GB" b="1" noProof="0" dirty="0" err="1"/>
              <a:t>kp</a:t>
            </a:r>
            <a:r>
              <a:rPr lang="en-GB" b="1" noProof="0" dirty="0"/>
              <a:t> = 0.88</a:t>
            </a:r>
            <a:r>
              <a:rPr lang="en-GB" noProof="0" dirty="0"/>
              <a:t>, </a:t>
            </a:r>
            <a:r>
              <a:rPr lang="en-GB" b="1" noProof="0" dirty="0" err="1"/>
              <a:t>kd</a:t>
            </a:r>
            <a:r>
              <a:rPr lang="en-GB" b="1" noProof="0" dirty="0"/>
              <a:t> = 0.33</a:t>
            </a:r>
            <a:r>
              <a:rPr lang="en-GB" noProof="0" dirty="0"/>
              <a:t>, </a:t>
            </a:r>
            <a:r>
              <a:rPr lang="en-GB" b="1" noProof="0" dirty="0"/>
              <a:t>ki = 0.000</a:t>
            </a:r>
            <a:endParaRPr lang="en-GB" noProof="0" dirty="0"/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694488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7CFA7-3A2E-09EC-E1A1-CFD3E319F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Right Edge Following FLC: Sensors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88E62-5902-24CE-58B3-C2649FDF4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noProof="0" dirty="0"/>
              <a:t>Sensors Used</a:t>
            </a:r>
          </a:p>
          <a:p>
            <a:r>
              <a:rPr lang="en-GB" noProof="0" dirty="0"/>
              <a:t>Right LiDAR =&gt; main wall-following input</a:t>
            </a:r>
          </a:p>
          <a:p>
            <a:r>
              <a:rPr lang="en-GB" noProof="0" dirty="0"/>
              <a:t>Front LiDAR =&gt; detects blocked path to slow and turn</a:t>
            </a:r>
          </a:p>
          <a:p>
            <a:r>
              <a:rPr lang="en-GB" noProof="0" dirty="0"/>
              <a:t>Left LiDAR =&gt; contextual awareness</a:t>
            </a:r>
          </a:p>
          <a:p>
            <a:r>
              <a:rPr lang="en-GB" b="1" noProof="0" dirty="0"/>
              <a:t>Why These Sensors?</a:t>
            </a:r>
          </a:p>
          <a:p>
            <a:r>
              <a:rPr lang="en-GB" noProof="0" dirty="0"/>
              <a:t>Right distance defines "desired wall distance"</a:t>
            </a:r>
          </a:p>
          <a:p>
            <a:r>
              <a:rPr lang="en-GB" noProof="0" dirty="0"/>
              <a:t>Front prevents collision during fuzzy steering</a:t>
            </a:r>
          </a:p>
          <a:p>
            <a:r>
              <a:rPr lang="en-GB" noProof="0" dirty="0"/>
              <a:t>Same LiDAR segmentation used across all controllers</a:t>
            </a:r>
          </a:p>
          <a:p>
            <a:r>
              <a:rPr lang="en-GB" noProof="0" dirty="0"/>
              <a:t>(Based on Fuzzy_Right_Edge_Following.py)</a:t>
            </a:r>
          </a:p>
        </p:txBody>
      </p:sp>
    </p:spTree>
    <p:extLst>
      <p:ext uri="{BB962C8B-B14F-4D97-AF65-F5344CB8AC3E}">
        <p14:creationId xmlns:p14="http://schemas.microsoft.com/office/powerpoint/2010/main" val="2236594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A049C-9FE6-8A77-B007-5140C5F93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Right Edge Following FLC: Input Membership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354AA-319B-F8A4-1EC1-C26C2068E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noProof="0" dirty="0"/>
              <a:t>Right Distance Membership Functions</a:t>
            </a:r>
          </a:p>
          <a:p>
            <a:r>
              <a:rPr lang="en-GB" b="1" noProof="0" dirty="0"/>
              <a:t>Close</a:t>
            </a:r>
            <a:r>
              <a:rPr lang="en-GB" noProof="0" dirty="0"/>
              <a:t>: (0 </a:t>
            </a:r>
            <a:r>
              <a:rPr lang="en-GB" dirty="0"/>
              <a:t>=&gt;</a:t>
            </a:r>
            <a:r>
              <a:rPr lang="en-GB" noProof="0" dirty="0"/>
              <a:t> 0.6)</a:t>
            </a:r>
          </a:p>
          <a:p>
            <a:r>
              <a:rPr lang="en-GB" b="1" noProof="0" dirty="0"/>
              <a:t>Okay</a:t>
            </a:r>
            <a:r>
              <a:rPr lang="en-GB" noProof="0" dirty="0"/>
              <a:t>: (0.3 </a:t>
            </a:r>
            <a:r>
              <a:rPr lang="en-GB" dirty="0"/>
              <a:t>=&gt;</a:t>
            </a:r>
            <a:r>
              <a:rPr lang="en-GB" noProof="0" dirty="0"/>
              <a:t> 0.9)</a:t>
            </a:r>
          </a:p>
          <a:p>
            <a:r>
              <a:rPr lang="en-GB" b="1" noProof="0" dirty="0"/>
              <a:t>Far</a:t>
            </a:r>
            <a:r>
              <a:rPr lang="en-GB" noProof="0" dirty="0"/>
              <a:t>: (0.7 </a:t>
            </a:r>
            <a:r>
              <a:rPr lang="en-GB" dirty="0"/>
              <a:t>=&gt;</a:t>
            </a:r>
            <a:r>
              <a:rPr lang="en-GB" noProof="0" dirty="0"/>
              <a:t> 1.2+)</a:t>
            </a:r>
          </a:p>
          <a:p>
            <a:r>
              <a:rPr lang="en-GB" b="1" noProof="0" dirty="0"/>
              <a:t>Front Distance MFs</a:t>
            </a:r>
          </a:p>
          <a:p>
            <a:r>
              <a:rPr lang="en-GB" b="1" noProof="0" dirty="0"/>
              <a:t>Near</a:t>
            </a:r>
            <a:r>
              <a:rPr lang="en-GB" noProof="0" dirty="0"/>
              <a:t>: (≤0.3 high, fades when 0.6)</a:t>
            </a:r>
          </a:p>
          <a:p>
            <a:r>
              <a:rPr lang="en-GB" b="1" noProof="0" dirty="0"/>
              <a:t>Far</a:t>
            </a:r>
            <a:r>
              <a:rPr lang="en-GB" noProof="0" dirty="0"/>
              <a:t>: (starts increasing at 0.5)</a:t>
            </a:r>
          </a:p>
        </p:txBody>
      </p:sp>
    </p:spTree>
    <p:extLst>
      <p:ext uri="{BB962C8B-B14F-4D97-AF65-F5344CB8AC3E}">
        <p14:creationId xmlns:p14="http://schemas.microsoft.com/office/powerpoint/2010/main" val="3049238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3575C-6BD8-E219-78BB-EA51C76EB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Right Edge Following FLC: Rule Base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62F0A34-11C6-B598-9808-581C8E0717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7973206"/>
              </p:ext>
            </p:extLst>
          </p:nvPr>
        </p:nvGraphicFramePr>
        <p:xfrm>
          <a:off x="914400" y="2664301"/>
          <a:ext cx="10353676" cy="2194560"/>
        </p:xfrm>
        <a:graphic>
          <a:graphicData uri="http://schemas.openxmlformats.org/drawingml/2006/table">
            <a:tbl>
              <a:tblPr/>
              <a:tblGrid>
                <a:gridCol w="2588419">
                  <a:extLst>
                    <a:ext uri="{9D8B030D-6E8A-4147-A177-3AD203B41FA5}">
                      <a16:colId xmlns:a16="http://schemas.microsoft.com/office/drawing/2014/main" val="3386067339"/>
                    </a:ext>
                  </a:extLst>
                </a:gridCol>
                <a:gridCol w="2588419">
                  <a:extLst>
                    <a:ext uri="{9D8B030D-6E8A-4147-A177-3AD203B41FA5}">
                      <a16:colId xmlns:a16="http://schemas.microsoft.com/office/drawing/2014/main" val="3976002764"/>
                    </a:ext>
                  </a:extLst>
                </a:gridCol>
                <a:gridCol w="2588419">
                  <a:extLst>
                    <a:ext uri="{9D8B030D-6E8A-4147-A177-3AD203B41FA5}">
                      <a16:colId xmlns:a16="http://schemas.microsoft.com/office/drawing/2014/main" val="241977063"/>
                    </a:ext>
                  </a:extLst>
                </a:gridCol>
                <a:gridCol w="2588419">
                  <a:extLst>
                    <a:ext uri="{9D8B030D-6E8A-4147-A177-3AD203B41FA5}">
                      <a16:colId xmlns:a16="http://schemas.microsoft.com/office/drawing/2014/main" val="14616077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/>
                        <a:t>Rule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/>
                        <a:t>IF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/>
                        <a:t>THEN (Angular)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/>
                        <a:t>THEN (Linear)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01611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/>
                        <a:t>Front Near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/>
                        <a:t>Strong Left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/>
                        <a:t>Very Slow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0774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/>
                        <a:t>Front Far &amp; Right Close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/>
                        <a:t>Soft Left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48184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/>
                        <a:t>Front Near &amp; Right Far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/>
                        <a:t>Soft Right (For REF)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7214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/>
                        <a:t>Front Far &amp; Right Okay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/>
                        <a:t>Straight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/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11260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/>
                        <a:t>Front Far &amp; Right Far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/>
                        <a:t>Strong Right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noProof="0" dirty="0"/>
                        <a:t>Medium-Fast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2408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796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BD8DF-A9E5-009F-CB7F-A582A1CFD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Right Edge Following FLC: Output MFs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885A1-E69D-F89F-BBCC-CFEE8EFD2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noProof="0" dirty="0"/>
              <a:t>Angular Velocity Centroids</a:t>
            </a:r>
          </a:p>
          <a:p>
            <a:r>
              <a:rPr lang="en-GB" noProof="0" dirty="0"/>
              <a:t>+0.8 Strong Left</a:t>
            </a:r>
          </a:p>
          <a:p>
            <a:r>
              <a:rPr lang="en-GB" noProof="0" dirty="0"/>
              <a:t>+0.5 Soft Left</a:t>
            </a:r>
          </a:p>
          <a:p>
            <a:r>
              <a:rPr lang="en-GB" noProof="0" dirty="0"/>
              <a:t>−0.5 Soft Right</a:t>
            </a:r>
          </a:p>
          <a:p>
            <a:r>
              <a:rPr lang="en-GB" noProof="0" dirty="0"/>
              <a:t>0 Straight</a:t>
            </a:r>
          </a:p>
          <a:p>
            <a:r>
              <a:rPr lang="en-GB" noProof="0" dirty="0"/>
              <a:t>−0.8 Strong Right</a:t>
            </a:r>
          </a:p>
          <a:p>
            <a:r>
              <a:rPr lang="en-GB" b="1" noProof="0" dirty="0"/>
              <a:t>Linear Velocity Centroids</a:t>
            </a:r>
          </a:p>
          <a:p>
            <a:r>
              <a:rPr lang="en-GB" noProof="0" dirty="0"/>
              <a:t>0.08 </a:t>
            </a:r>
            <a:r>
              <a:rPr lang="en-GB" dirty="0"/>
              <a:t>=&gt;</a:t>
            </a:r>
            <a:r>
              <a:rPr lang="en-GB" noProof="0" dirty="0"/>
              <a:t> Very Slow</a:t>
            </a:r>
          </a:p>
          <a:p>
            <a:r>
              <a:rPr lang="en-GB" noProof="0" dirty="0"/>
              <a:t>0.18 </a:t>
            </a:r>
            <a:r>
              <a:rPr lang="en-GB" dirty="0"/>
              <a:t>=&gt;</a:t>
            </a:r>
            <a:r>
              <a:rPr lang="en-GB" noProof="0" dirty="0"/>
              <a:t> Medium</a:t>
            </a:r>
          </a:p>
          <a:p>
            <a:r>
              <a:rPr lang="en-GB" noProof="0" dirty="0"/>
              <a:t>0.30 </a:t>
            </a:r>
            <a:r>
              <a:rPr lang="en-GB" dirty="0"/>
              <a:t>=&gt;</a:t>
            </a:r>
            <a:r>
              <a:rPr lang="en-GB" noProof="0" dirty="0"/>
              <a:t> Fast</a:t>
            </a:r>
          </a:p>
          <a:p>
            <a:r>
              <a:rPr lang="en-GB" noProof="0" dirty="0"/>
              <a:t>0.25 </a:t>
            </a:r>
            <a:r>
              <a:rPr lang="en-GB" dirty="0"/>
              <a:t>=&gt;</a:t>
            </a:r>
            <a:r>
              <a:rPr lang="en-GB" noProof="0" dirty="0"/>
              <a:t> Medium-Fast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258932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B55D9-F57D-DBE4-4222-7D955504B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Obstacle Avoidance FLC: Sensors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7BEEB-93BF-A3BC-E10E-148D1C2A0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noProof="0" dirty="0"/>
              <a:t>Sensors Used</a:t>
            </a:r>
          </a:p>
          <a:p>
            <a:r>
              <a:rPr lang="en-GB" noProof="0" dirty="0"/>
              <a:t>Front LiDAR (101–132)</a:t>
            </a:r>
          </a:p>
          <a:p>
            <a:r>
              <a:rPr lang="en-GB" noProof="0" dirty="0"/>
              <a:t>Right LiDAR (0–81)</a:t>
            </a:r>
          </a:p>
          <a:p>
            <a:r>
              <a:rPr lang="en-GB" noProof="0" dirty="0"/>
              <a:t>Left LiDAR (132–242)</a:t>
            </a:r>
          </a:p>
          <a:p>
            <a:r>
              <a:rPr lang="en-GB" b="1" noProof="0" dirty="0"/>
              <a:t>Why These Sensors?</a:t>
            </a:r>
          </a:p>
          <a:p>
            <a:r>
              <a:rPr lang="en-GB" noProof="0" dirty="0"/>
              <a:t>Large front sector captures most collisions</a:t>
            </a:r>
          </a:p>
          <a:p>
            <a:r>
              <a:rPr lang="en-GB" noProof="0" dirty="0"/>
              <a:t>Right/left sectors detect corridors, corners</a:t>
            </a:r>
          </a:p>
          <a:p>
            <a:r>
              <a:rPr lang="en-GB" noProof="0" dirty="0"/>
              <a:t>Combined view enables smooth escape behaviour also prevent front left corner crash</a:t>
            </a:r>
          </a:p>
          <a:p>
            <a:r>
              <a:rPr lang="en-GB" noProof="0" dirty="0"/>
              <a:t>(Based on Fuzzy_Obstacle_Avoidance.py)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98425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0D313-1A03-6183-589F-5682FEDF3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Obstacle Avoidance FLC: Membership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63740-6736-B9B4-8D9B-B510CD001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noProof="0" dirty="0"/>
              <a:t>Front Distance</a:t>
            </a:r>
          </a:p>
          <a:p>
            <a:r>
              <a:rPr lang="en-GB" noProof="0" dirty="0"/>
              <a:t>Near: obstacle close</a:t>
            </a:r>
          </a:p>
          <a:p>
            <a:r>
              <a:rPr lang="en-GB" noProof="0" dirty="0"/>
              <a:t>Far: front is clear</a:t>
            </a:r>
          </a:p>
          <a:p>
            <a:r>
              <a:rPr lang="en-GB" b="1" noProof="0" dirty="0"/>
              <a:t>Side Distances</a:t>
            </a:r>
          </a:p>
          <a:p>
            <a:r>
              <a:rPr lang="en-GB" noProof="0" dirty="0"/>
              <a:t>Close: wall/obstacle near</a:t>
            </a:r>
          </a:p>
          <a:p>
            <a:r>
              <a:rPr lang="en-GB" noProof="0" dirty="0"/>
              <a:t>Open: free to turn</a:t>
            </a:r>
          </a:p>
          <a:p>
            <a:r>
              <a:rPr lang="en-GB" b="1" noProof="0" dirty="0"/>
              <a:t>Goal</a:t>
            </a:r>
          </a:p>
          <a:p>
            <a:r>
              <a:rPr lang="en-GB" noProof="0" dirty="0"/>
              <a:t>Avoid collision by choosing safest turning direction</a:t>
            </a:r>
          </a:p>
        </p:txBody>
      </p:sp>
    </p:spTree>
    <p:extLst>
      <p:ext uri="{BB962C8B-B14F-4D97-AF65-F5344CB8AC3E}">
        <p14:creationId xmlns:p14="http://schemas.microsoft.com/office/powerpoint/2010/main" val="2708165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F5BE3-5EB5-7793-CB60-3C58E390A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Obstacle Avoidance FLC: Rule Base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0B1817-EA46-5E65-45EA-186BFB52D0C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0" y="2847181"/>
          <a:ext cx="10353675" cy="1828800"/>
        </p:xfrm>
        <a:graphic>
          <a:graphicData uri="http://schemas.openxmlformats.org/drawingml/2006/table">
            <a:tbl>
              <a:tblPr/>
              <a:tblGrid>
                <a:gridCol w="3451225">
                  <a:extLst>
                    <a:ext uri="{9D8B030D-6E8A-4147-A177-3AD203B41FA5}">
                      <a16:colId xmlns:a16="http://schemas.microsoft.com/office/drawing/2014/main" val="1947942901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3925176752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22380463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Rule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Condition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Behaviour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158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Corner Escape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Front Near &amp; Both Sides Close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Strong Left + Stop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535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Turn Left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Front Near &amp; Left Open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Normal Left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405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Soft Left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Front Near &amp; Right Open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Soft Left (no right turns allowed)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056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Forward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Front Far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Move Straight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774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7931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D4080-AEB6-3B31-1082-0012AFEA0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Obstacle </a:t>
            </a:r>
            <a:r>
              <a:rPr lang="fr-FR" dirty="0" err="1"/>
              <a:t>Avoidance</a:t>
            </a:r>
            <a:r>
              <a:rPr lang="fr-FR" dirty="0"/>
              <a:t> FLC: Output </a:t>
            </a:r>
            <a:r>
              <a:rPr lang="fr-FR" dirty="0" err="1"/>
              <a:t>MFs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6A8B4-5B83-4B40-5C3E-5406DAFC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Angular Centroids</a:t>
            </a:r>
          </a:p>
          <a:p>
            <a:r>
              <a:rPr lang="en-US" dirty="0"/>
              <a:t>1.0 Strong Left</a:t>
            </a:r>
          </a:p>
          <a:p>
            <a:r>
              <a:rPr lang="en-US" dirty="0"/>
              <a:t>0.6 Normal Left</a:t>
            </a:r>
          </a:p>
          <a:p>
            <a:r>
              <a:rPr lang="en-US" dirty="0"/>
              <a:t>0.3 Soft Left</a:t>
            </a:r>
          </a:p>
          <a:p>
            <a:r>
              <a:rPr lang="en-US" dirty="0"/>
              <a:t>0.0 Straight</a:t>
            </a:r>
          </a:p>
          <a:p>
            <a:r>
              <a:rPr lang="en-US" b="1" dirty="0"/>
              <a:t>Linear Centroids</a:t>
            </a:r>
          </a:p>
          <a:p>
            <a:r>
              <a:rPr lang="en-US" dirty="0"/>
              <a:t>0.0 Very Slow (corner escape decreases the probability of crash)</a:t>
            </a:r>
          </a:p>
          <a:p>
            <a:r>
              <a:rPr lang="en-US" dirty="0"/>
              <a:t>0.10 Slow turn</a:t>
            </a:r>
          </a:p>
          <a:p>
            <a:r>
              <a:rPr lang="en-US" dirty="0"/>
              <a:t>0.30 Straight motion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93196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36C71-BCD6-DEC0-16F3-2764FA5CA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Architecture (Blended FLC + PID)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2EEA3-F1C5-09B1-8F7F-DBB396567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Inputs for Control Architecture:</a:t>
            </a:r>
          </a:p>
          <a:p>
            <a:r>
              <a:rPr lang="en-US" dirty="0"/>
              <a:t>Right Distance</a:t>
            </a:r>
          </a:p>
          <a:p>
            <a:r>
              <a:rPr lang="en-US" dirty="0"/>
              <a:t>Left Distance</a:t>
            </a:r>
          </a:p>
          <a:p>
            <a:r>
              <a:rPr lang="en-US" dirty="0"/>
              <a:t>Front Distance</a:t>
            </a:r>
          </a:p>
          <a:p>
            <a:r>
              <a:rPr lang="en-US" b="1" dirty="0"/>
              <a:t>Justification:</a:t>
            </a:r>
          </a:p>
          <a:p>
            <a:r>
              <a:rPr lang="en-US" dirty="0"/>
              <a:t>Provides symmetrical understanding of corridor environment</a:t>
            </a:r>
          </a:p>
          <a:p>
            <a:r>
              <a:rPr lang="en-US" dirty="0"/>
              <a:t>Allows blending between Right Edge Follow and Obstacle Avoidance</a:t>
            </a:r>
          </a:p>
          <a:p>
            <a:r>
              <a:rPr lang="en-US" b="1" dirty="0"/>
              <a:t>Architecture Operation:</a:t>
            </a:r>
          </a:p>
          <a:p>
            <a:r>
              <a:rPr lang="en-US" dirty="0"/>
              <a:t>If </a:t>
            </a:r>
            <a:r>
              <a:rPr lang="en-US" b="1" dirty="0"/>
              <a:t>front obstacle is very near =&gt; Obstacle Avoidance dominates 100%</a:t>
            </a:r>
            <a:endParaRPr lang="en-US" dirty="0"/>
          </a:p>
          <a:p>
            <a:r>
              <a:rPr lang="en-US" dirty="0"/>
              <a:t>If front is clear =&gt; Weighted blending:</a:t>
            </a:r>
          </a:p>
          <a:p>
            <a:pPr lvl="1"/>
            <a:r>
              <a:rPr lang="en-US" dirty="0"/>
              <a:t>Weight(OA) = high when obstacle slightly near</a:t>
            </a:r>
          </a:p>
          <a:p>
            <a:pPr lvl="1"/>
            <a:r>
              <a:rPr lang="en-US" dirty="0"/>
              <a:t>Weight(REF) = high when path is clear</a:t>
            </a:r>
          </a:p>
          <a:p>
            <a:r>
              <a:rPr lang="en-US" dirty="0"/>
              <a:t>Angular/linear velocities computed via weighted average</a:t>
            </a:r>
          </a:p>
          <a:p>
            <a:r>
              <a:rPr lang="en-US" dirty="0"/>
              <a:t>(Based on Final_Architecture.py)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453951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22</TotalTime>
  <Words>619</Words>
  <Application>Microsoft Office PowerPoint</Application>
  <PresentationFormat>Widescreen</PresentationFormat>
  <Paragraphs>132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Calisto MT</vt:lpstr>
      <vt:lpstr>Wingdings 2</vt:lpstr>
      <vt:lpstr>Slate</vt:lpstr>
      <vt:lpstr>CE801- Intelligent Systems and Robotics</vt:lpstr>
      <vt:lpstr>PID Controller (Right Edge Following)</vt:lpstr>
      <vt:lpstr>Right Edge Following FLC: Sensors</vt:lpstr>
      <vt:lpstr>Right Edge Following FLC: Input Membership Functions</vt:lpstr>
      <vt:lpstr>Right Edge Following FLC: Rule Base</vt:lpstr>
      <vt:lpstr>Right Edge Following FLC: Output MFs</vt:lpstr>
      <vt:lpstr>Obstacle Avoidance FLC: Sensors</vt:lpstr>
      <vt:lpstr>Obstacle Avoidance FLC: Membership Functions</vt:lpstr>
      <vt:lpstr>Obstacle Avoidance FLC: Rule Base</vt:lpstr>
      <vt:lpstr>Obstacle Avoidance FLC: Output MFs</vt:lpstr>
      <vt:lpstr>Control Architecture (Blended FLC + PID)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Baris Govercin</dc:creator>
  <cp:lastModifiedBy>Baris Govercin</cp:lastModifiedBy>
  <cp:revision>2</cp:revision>
  <dcterms:created xsi:type="dcterms:W3CDTF">2025-12-07T00:10:12Z</dcterms:created>
  <dcterms:modified xsi:type="dcterms:W3CDTF">2025-12-07T12:06:37Z</dcterms:modified>
</cp:coreProperties>
</file>